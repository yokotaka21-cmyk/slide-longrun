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db167d3d-35bc-2f39-6b1b-cc62187faf85}">
          <p14:sldIdLst>
            <p14:sldId id="256"/>
            <p14:sldId id="257"/>
            <p14:sldId id="258"/>
          </p14:sldIdLst>
        </p14:section>
        <p14:section name="1. 位置づけ" id="{c6f41407-45e2-a20c-1cb1-eebbe477f5bb}">
          <p14:sldIdLst>
            <p14:sldId id="259"/>
            <p14:sldId id="260"/>
            <p14:sldId id="261"/>
            <p14:sldId id="262"/>
            <p14:sldId id="263"/>
          </p14:sldIdLst>
        </p14:section>
        <p14:section name="2. 目指す姿" id="{f439aa2a-222d-5a1d-e0d3-d679cc60b257}">
          <p14:sldIdLst>
            <p14:sldId id="264"/>
            <p14:sldId id="265"/>
            <p14:sldId id="266"/>
          </p14:sldIdLst>
        </p14:section>
        <p14:section name="3. 社会の中の走ること" id="{5f6b2a3b-e355-611f-165c-5fc9eebbb725}">
          <p14:sldIdLst>
            <p14:sldId id="267"/>
            <p14:sldId id="268"/>
          </p14:sldIdLst>
        </p14:section>
        <p14:section name="4. 苦しいの正体" id="{127c0267-f350-816f-9d73-aa7f5509d76f}">
          <p14:sldIdLst>
            <p14:sldId id="269"/>
            <p14:sldId id="270"/>
            <p14:sldId id="271"/>
            <p14:sldId id="272"/>
            <p14:sldId id="273"/>
          </p14:sldIdLst>
        </p14:section>
        <p14:section name="5. 3つの方法" id="{a0a62b3c-ea89-c7d7-dce4-7e30c2203cbf}">
          <p14:sldIdLst>
            <p14:sldId id="274"/>
            <p14:sldId id="275"/>
            <p14:sldId id="276"/>
          </p14:sldIdLst>
        </p14:section>
        <p14:section name="6. 嫌いになる理由" id="{f067c49a-b732-1ad2-50de-66dfc41a4fb5}">
          <p14:sldIdLst>
            <p14:sldId id="277"/>
          </p14:sldIdLst>
        </p14:section>
        <p14:section name="7. 大会までに何をするか" id="{6332405d-6719-7935-4615-7a20b06c43f7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8. 安全管理" id="{7045405d-15ba-9aa2-46fc-38018d68b18d}">
          <p14:sldIdLst>
            <p14:sldId id="284"/>
            <p14:sldId id="285"/>
          </p14:sldIdLst>
        </p14:section>
        <p14:section name="まとめ" id="{2221ec6e-7d5c-61b7-a28f-b9bf92ff9563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【約30秒】
よろしくお願いします。今日は、マラソン大会に向けた「持久走」の取り組みについてお話しします。
体育が専門の先生だけでなく、全教職員の皆さんに聞いていただきたい内容です。大会当日は、全員がコースのどこかで子どもを見守ることになるからです。
途中で3回、近くの方と話し合っていただく時間をとります。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簡単に自己紹介をします。中学校で駅伝部・陸上競技部の指導をしてきました。駅伝では全国大会に3回出場し、8位・9位・20位。陸上競技部では市の総体で12年連続優勝し、獲得した優勝旗は48本になりました。
（実績は短く。強調するのは次の一言）
ただ、私が一番大切にしてきたのは、勝つことそのものではなく、「なぜこの練習をするのか」を選手が納得して取り組むことです。納得できる、理由のある努力。今日の話は、全部この考え方につなが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最初に1つ質問です。皆さんのクラスの子どもたちは、マラソン大会を楽しみにしているでしょうか。
「楽しみにしている子が多い」と思う方、手を挙げてください。……「いやがっている子が多い」と思う方は？
（会場の反応を受けて）ありがとうございます。いやがる子がいるのは、子どもが悪いわけではありません。大会の位置づけや、練習のやり方に理由があるのかもしれません。今日はそこを一緒に考え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意外に思われるかもしれませんが、小学校の学習指導要領の陸上運動には「長距離走」がありません。
高学年の陸上運動は、短距離走・リレー、ハードル走、走り幅跳び、走り高跳びの4つです。
長距離走が出てくるのは中学校からで、1000〜3000m程度とされています。
では、小学校で長く走る運動はどこにあるのでしょうか。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小学校で長く走る運動は、「体つくり運動」の中にあります。体ほぐしの運動ではなく、「体の動きを高める運動」の、「動きを持続する能力を高めるための運動」です。
高学年の解説の例示には、「無理のない速さで5〜6分程度の持久走」とあります。ほかにも、エアロビクスなどの全身運動を続けること、変化のある地形を移動することなどが挙げられています。
（問いかけ）皆さんの学校の大会では、子どもたちは何分くらい走っているでしょうか。
※低・中学年の時間の目安は二次資料で2〜3分、3〜4分とされることがある。使う場合は解説の原文で確認すること。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授業の持久走とは別に、マラソン大会は特別活動の学校行事、「健康安全・体育的行事」に当たります。
指導要領が示すねらいには、心身の健全な発達や健康の保持増進、運動に親しむ態度の育成、責任感や連帯感の涵養、体力の向上などが並んでいます。
「体力の向上」だけでなく、「運動に親しむ態度」もねらいに入っていることを、ぜひ心に留めておいてください。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【約1分・時間がなければ省略可】
少し余談です。日本の運動会のルーツの一つは、1874年（明治7年）に海軍兵学寮で行われた「競闘遊戯」だと言われています。小隊ごとに訓練の成果を競い合う、いわば「どの隊が一番強いか」を比べる場でした。
その後、明治期に学校の運動会が全国に広がります。目的は体育の普及でしたが、内容には軍事的な色合いもありました。
学習指導要領ができたのは戦後です。最初は1947年の「試案」で、法的な拘束力を持つ告示になったのは1958年です。
つまり、「競わせる行事」は指導要領より前からありました。私たちの大会にも、その名残があるかもしれません。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【約30秒】
ここまでをまとめると、問いはこうなります。
私たちのマラソン大会は、運動に親しみ、体力を高めるための「行事」でしょうか。それとも、苦しさに耐えることや競わせることが目的の「訓練」になっていないでしょうか。
答えはここでは出しません。この問いを持ったまま、次へ進みます。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ここは私自身の経験からお話しします。
全国大会で戦う駅伝の選手たちにも、私は「歯を食いしばって耐えろ」とは求めてきませんでした。
（具体的なエピソードを1つ入れる：例）ある選手が伸びたのは、苦しい練習に耐えたからではなく、「この練習は何のためか」がわかって、自分でペースを考えるようになってからでした。
全国レベルの中学生ですらそうです。まして小学生に、苦しさに耐える力を求める必要はありません。学習指導要領のどこにも、「耐える力」は書かれていません。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では、どんな姿を目指すのか。私は次の3段階だと考えています。
1つ目は、苦しさをコントロールできること。自分でペースを調整し、苦しくなりすぎないように走れる。
2つ目は、伸びを実感できること。「前より楽に走れた」「前より長く走れた」と自分でわかる。
3つ目は、その結果「もっと走りたい」と意欲的になること。
これが理想の姿です。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【約3分＋共有1分】
ここで1回目の話し合いです。隣の方とペアになって、3分間話してください。
テーマは「マラソン大会で、子どものどんな姿が見たいか」。練習中、大会当日、大会が終わった後、どの場面でもかまいません。
（3分後、2〜3組に発表してもらう）
（まとめ）「最後まであきらめない姿」「友達を応援する姿」などが出たと思います。その中に「苦しそうに歯を食いしばる姿」はあったでしょうか。たぶん、先ほどの3段階に近い姿が多かったはずです。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学校の外に目を向けてみます。ジョギングは、大人がよく行う代表的な余暇のスポーツです。市民マラソンも各地で開かれ、多くの人が参加しています。
でも、大人が走る理由は「健康のため」「気分転換」「自分のペースで」です。きつい運動として走っているわけではありません。
一方で、学校の持久走には「きつい」「苦しい」「順位」というイメージがつきがちです。このずれが、子どもの「走るのが嫌い」につながっているのかもしれません。
※レジャー白書の順位を示す場合は、最新版の数値を確認して差し替える。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【約1分・時間がなければ省略可】
スポーツ庁の令和6年度の調査では、週1日以上運動やスポーツをしている20歳以上の人は52.5%でした。国の目標は70%なので、まだ大きな差があります。
運動を「嫌いなもの」として覚えてしまうと、大人になってからも体を動かす習慣がつきにくくなります。
小学校の持久走で「嫌い」にさせないことには、一生に関わる意味があります。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【約30秒】
では、子どもはなぜ長く走り続けられないのでしょうか。子どもに聞くと、「疲れた」「きつい」「苦しい」という答えが返ってきます。
この「苦しい」の正体は何なのか。体の中で何が起きているのかを、簡単に見ていきます。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体を動かすエネルギーのつくり方は、大きく3つあります。
1つ目は、筋肉にためてあるエネルギーをすぐに使う仕組みで、10秒ほどしかもちません（ATPとクレアチンリン酸）。
2つ目は、糖を素早く分解する仕組みで、2分くらいまでの運動の主役です。
3つ目は、酸素を使って糖や脂肪を燃やす仕組みで、長く動くときの主役です。
長く走るほど3つ目の仕組みが中心になり、たくさんの酸素が必要になります。だから呼吸が速くなり、心臓も速く打ちます。
※補足：乳酸は昔「疲労物質」と言われていたが、現在はエネルギー源の一つとして扱われている。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呼吸や心拍数が上がると、脳がそれを受け取って「苦しい」と感じます。これは、体を守るために脳がかけるブレーキのようなものです。
大事なのは、このブレーキのかかり方は変えられるということです。同じ心拍数でも、慣れている人は「まだ大丈夫」と感じます。ゴールまでの見通しがあるときも、苦しさの感じ方は軽くなります。
つまり、「苦しい」は体の限界そのものではなく、脳の感じ方です。練習で変えていくことができます。
ただし、本当に危険なサインもあります。それは最後の安全の話でお伝えします。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【約1分】
子どもが「もう走れない」と言うとき、原因は大きく2つです。
1つは、エネルギー切れ。足が重くなって動かなくなる状態です。小学生の数分間の持久走では、まず起こりません。
もう1つは、酸素不足による息切れ。呼吸と心拍数が上がりすぎて「苦しくてもうダメ」となる状態です。
小学生の持久走で起きているのは、ほとんどが2つ目です。つまり、ペースが速すぎるのです。ペースを落とせば、また走れるようになります。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【約1分・時間がなければ省略可】
実は、子どもは大人よりも疲れにくい体を持っています。思春期前の子どもは、酸素を使うエネルギーの仕組みに頼る割合が高く、運動の後の回復も早いことが研究でわかっています。
休み時間の鬼ごっこを思い出してください。子どもたちは20分間、走ったり止まったりを繰り返しても平気です。
子どもは本来、長く動ける体を持っています。持久走が苦手に見えるのは、子どもの体の問題ではなく、走らせ方の問題かもしれません。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動きを持続する力を高める方法は、大きく分けて3つです。
1つ目は、運動しても心拍数が上がりにくい体をつくること。心臓や肺を鍛えるトレーニングで、インターバルトレーニングのように、心拍数を思い切り上げては下げることを繰り返します。強い負荷がかかります。
2つ目は、心拍数が上がっても「苦しい」と感じにくくすること。少し心拍数が上がった状態で、長い時間動き続け、脳を慣れさせます。
3つ目は、苦しさに耐えて走る力をつけること。タイムトライアルやレペティションのように、きつい状態で走る練習です。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【約3分】
2回目の話し合いです。この3つのうち、小学生にはどれを選ぶか、近くの方と3分間話してください。
理由も一緒に考えてみてください。「今、自分のクラスでやっている練習はどれに近いか」という視点でもかまいません。
（3分後）では、選んだ番号を指で示してください。せーの。
（会場の結果を見て、次のスライドへ）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私のおすすめは②です。少し息が上がるけれど、隣の友達とおしゃべりができるくらいの速さで、長く動き続けることです。これが学習指導要領の「無理のない速さ」にも当たります。
③の「苦しさに耐える」練習は、効果はあっても「走るのが嫌い」を生みやすい方法です。①も負荷が強く、小学生の段階で積極的に選ぶ必要はありません。
補足です。大人なら心拍数で強さを管理できますが、子どもは安静時の心拍数も最大心拍数も大人より高く、「220−年齢」という大人向けの式は当てはまりません。だから、心拍数の数字より「おしゃべりできるか」を目安にするのが実用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子どもが走ることを嫌いになる理由は、大きく2つあると考えています。
1つ目は、「苦しくても走り続けなければいけない」こと。止まってはいけないと思うから、苦しさが怖くなります。だから、「きつくなったら、いつでも止まっていい（歩いていい）」と伝えます。止まってもいいとわかると、子どもは安心して走り出せます。
2つ目は、目的がないこと。ただ同じコースを何周も走るだけでは、つまらないのは当然です。走る目的があれば、子どもの気持ちは変わります。
では、具体的にどうするか。ここからが今日の中心です。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ここからは、大会までの期間に何をするかです。私は4つの原則を提案します。
「ゆっくり」：おしゃべりできる速さで走る。
「短く」：最初は5分程度から始め、少しずつ伸ばす。
「選べる」：ペースやコース、歩くかどうかを子ども自身が選べるようにする。
「ためる」：走った距離や時間を記録して、積み上がっていくのが見えるようにする。
この4つがあれば、体力をつけながら、走ることを嫌いにさせずに済みます。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活動例の1つ目は、自分のちょうどいいペースを知る活動です。
「おしゃべり走」：2〜3人で、話しながら走れる速さで走ります。話せなくなったら速すぎる合図です。
「ペア走」：友達と並んで、同じペースで走ります。ペースを合わせることを目標にすると、競争になりません。
「脈を測る」：走る前と後に、手首や首で15秒間脈を数えて4倍します。自分の体の変化を数字で知ることができ、保健や理科の学習ともつながります。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活動例の2つ目は、走る目的と楽しさを足す活動です。
「ピタリ賞」：走る前に「何分何秒で走れるか」を予想し、実際のタイムとの差が小さい人が勝ち。速い子が勝つとは限らないので、どの子にもチャンスがあります。ペース感覚も身につきます。
「日本一周マップ」：走った距離をクラスで合計し、地図の上でたどっていきます。「今日は〇〇県に着いた」と目に見えると、目的が生まれます。
「変化のあるコース」：坂道、芝生、校舎の周りなど。学習指導要領の例示にもある「変化のある地形」です。
「鬼遊び」：鬼ごっこやしっぽ取りも、立派な「動きを持続する運動」です。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皆さんの学校の大会は、順位をつける部門と、順位をつけない部門に分かれていると聞いています。どちらの部門にも、子どもが納得できる「理由のある目標」を持たせることが大切です。
順位をつける部門の子には、順位だけでなく、自己ベストやペース配分を課題にします。「前半を抑えて、後半に上げる」ことができれば、それは立派な成長です。
順位をつけない部門の子には、予想タイムとの差、止まらずに走れた時間、自分で決めたペースを守れたか、などを目標にできます。
大事なのは、ゴールした後に「自分はこれができた」と言えることです。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【約5分＋共有2分】
3回目、最後の話し合いです。3〜4人のグループで5分間話してください。
テーマは「順位をつけない部門の子が、大会の後に『走ってよかった』と思えるには、どうしたらよいか」です。
大会までの練習、当日の仕組み、終わった後の振り返り、どこからでもかまいません。担任以外の先生方も、ぜひご自分の立場からアイデアを出してください。
（5分後、2〜3グループに発表してもらう。出たアイデアをまとめて、次のスライドへ）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【約1分・時間がなければ省略可】
アイデアをありがとうございました。最後に、全員がすぐに使えることを1つ。声かけです。
「がんばれ」「抜かれるな」「止まるな」という声かけは、子どもに「もっと苦しくなれ」と伝えてしまうことがあります。
代わりに、「いいペースだね」「さっきより楽そうだね」「自分で決めたペースを守れてるよ」と、子どもが自分の走りに気づける言葉をかけてみてください。
これは担任でなくても、コースに立つ先生全員ができることです。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最後に、必ずお伝えしたいのが安全のことです。
学校の管理下での心臓突然死は、毎年10人前後起きています。そして、その約3分の2は運動に関連して起きています。
持久走大会での事例もあります。日本スポーツ振興センターの資料には、2kmの持久走大会でゴール直後に意識を失い、翌日亡くなった児童の事例が載っています。この児童は持病があったものの、学校生活管理指導表では「強い運動も可」とされていました。
心臓検診で異常がなかった子にも起こりえます。「苦しい」は脳のブレーキだとお話ししましたが、胸の痛み、めまい、顔色の悪さなどは本当の危険サインです。見逃さないでください。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特に注意が必要なのは、ゴール前のスパートと、ゴールした直後です。急に負荷が上がり、急に止まるタイミングで倒れる事例が多くあります。
そこで、大会では次のことを確認しておいてください。
・AEDの位置。コースのどこからでも数分で届く配置になっているか。
・ゴール付近に、子どもの様子を見る担当の先生がいるか。
・ゴール後に座り込んだ子や、様子がおかしい子に必ず声をかける。
・事前に、心臓検診の結果や学校生活管理指導表を確認しておく。
そして、倒れた子がいたときに誰が何をするかという緊急時の対応計画を、全職員で共有しておくことです。今日ここにいる全員が、その担い手です。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【約1分30秒】
今日のまとめです。
小学校の持久走は「無理のない速さ」で行う運動で、マラソン大会は「運動に親しむ態度」を育てる行事です。
「苦しい」は脳のブレーキで、ゆっくり長く走ることで感じ方を変えていけます。
大会までは「ゆっくり・短く・選べる・ためる」。声かけは「がんばれ」より「いいペースだね」。そして安全は全職員で守る。
私が中学生の選手たちと大切にしてきたのは、納得できる、理由のある努力でした。小学生も同じです。育てたいのは「耐える子」ではなく、「理由を持って、また走りたくなる子」です。
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（投影しなくてもよい。配布資料用）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4800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K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「走るのが好き」が、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いちばんの体力づくり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マラソン大会に向けた「持久走」の指導を考える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校内研修　講師：〇〇〇〇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RUN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講師紹介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大切にしてきたのは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「納得できる、理由のある努力」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回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駅伝 全国大会出場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8位・9位・20位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12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年連続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市総体 優勝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陸上競技部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00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48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本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獲得した優勝旗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766560" y="2057400"/>
            <a:ext cx="4846320" cy="3931920"/>
          </a:xfrm>
          <a:prstGeom prst="roundRect">
            <a:avLst>
              <a:gd name="adj" fmla="val 116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指導で心がけてきたこと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3017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納得できる、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理由のある努力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4754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「なぜこの練習をするのか」を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選手自身がわかっていること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問いかけ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子どもたちは、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マラソン大会を楽しみにしていますか？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3520440" cy="2743200"/>
          </a:xfrm>
          <a:prstGeom prst="roundRect">
            <a:avLst>
              <a:gd name="adj" fmla="val 166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51660" y="2697480"/>
            <a:ext cx="914400" cy="9144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5166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楽しみにしている子が多い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3520440" cy="274320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46420" y="2697480"/>
            <a:ext cx="914400" cy="9144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4642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3886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半々くらい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38160" y="2377440"/>
            <a:ext cx="3520440" cy="2743200"/>
          </a:xfrm>
          <a:prstGeom prst="roundRect">
            <a:avLst>
              <a:gd name="adj" fmla="val 166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41180" y="269748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4118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886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いやがっている子が多い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挙手でお答えください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長距離走の位置づけ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小学校の体育に「長距離走」はない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5303520" cy="3931920"/>
          </a:xfrm>
          <a:prstGeom prst="roundRect">
            <a:avLst>
              <a:gd name="adj" fmla="val 11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小学校（高学年）陸上運動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0175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短距離走・リレー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ハードル走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走り幅跳び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走り高跳び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257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長距離走は……ない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35040" y="3840480"/>
            <a:ext cx="548640" cy="457200"/>
          </a:xfrm>
          <a:prstGeom prst="rightArrow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2103120"/>
            <a:ext cx="4846320" cy="3931920"/>
          </a:xfrm>
          <a:prstGeom prst="roundRect">
            <a:avLst>
              <a:gd name="adj" fmla="val 116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8660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中学校 陸上競技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長距離走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1000〜3000m程度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5120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「長距離走」として扱うのは中学校から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出典：小学校・中学校学習指導要領（平成29年告示）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長距離走の位置づけ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あるのは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「無理のない速さで5〜6分程度」の持久走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3291840" cy="73152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03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体つくり運動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3108960"/>
            <a:ext cx="3017520" cy="64008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体ほぐしの運動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931920"/>
            <a:ext cx="3017520" cy="64008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体の動きを高める運動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7280" y="4754880"/>
            <a:ext cx="2743200" cy="91440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4754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動きを持続する能力を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高めるための運動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114800" y="4983480"/>
            <a:ext cx="548640" cy="45720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21031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高学年の例示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560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5</a:t>
            </a:r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〜</a:t>
            </a:r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6</a:t>
            </a:r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 分程度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3931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無理のない速さで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4572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エアロビクスなどの全身運動を続ける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変化のある地形などを移動する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出典：小学校学習指導要領（平成29年告示）解説 体育編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長距離走の位置づけ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大会は特別活動の「体育的行事」。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ねらいの一つは「運動に親しむ態度」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健康安全・体育的行事のねらい（要旨）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3520440" cy="1143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743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心身の健全な発達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43400" y="2743200"/>
            <a:ext cx="3520440" cy="1143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2743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健康の保持増進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138160" y="2743200"/>
            <a:ext cx="3520440" cy="1143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2743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運動に親しむ態度の育成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3520440" cy="1143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1605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責任感や連帯感の涵養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343400" y="4160520"/>
            <a:ext cx="3520440" cy="1143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41605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体力の向上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1605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「体力の向上」と並んで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「親しむ」がある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出典：小学校学習指導要領（平成29年告示）第6章 特別活動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長距離走の位置づけ（余談）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運動会のルーツは、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海軍の「隊の強さ比べ」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2960" y="3063240"/>
            <a:ext cx="105156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292608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1874年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2606040" cy="2194560"/>
          </a:xfrm>
          <a:prstGeom prst="roundRect">
            <a:avLst>
              <a:gd name="adj" fmla="val 2083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703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海軍兵学寮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「競闘遊戯」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小隊ごとに訓練の成果を競う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520440" y="2926080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明治期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383280" y="3520440"/>
            <a:ext cx="2606040" cy="219456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3703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学校運動会が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全国に普及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体育の普及が目的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55080" y="2926080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1947年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6217920" y="3520440"/>
            <a:ext cx="2606040" cy="219456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703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学習指導要領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（試案）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戦後、初めての指導要領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189720" y="2926080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05256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1958年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9052560" y="3520440"/>
            <a:ext cx="2606040" cy="219456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35440" y="3703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学習指導要領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（告示）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3544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法的な拘束力を持つ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「競わせる行事」は、学習指導要領より前からあった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 長距離走の位置づけ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私たちの大会は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「行事」か、それとも「訓練」か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120640" cy="3474720"/>
          </a:xfrm>
          <a:prstGeom prst="roundRect">
            <a:avLst>
              <a:gd name="adj" fmla="val 1316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行事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57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運動に親しむ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体力を高める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20040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?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6537960" y="2194560"/>
            <a:ext cx="5120640" cy="3474720"/>
          </a:xfrm>
          <a:prstGeom prst="roundRect">
            <a:avLst>
              <a:gd name="adj" fmla="val 131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訓練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3657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苦しさに耐える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競わせる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2. 目指す子どもの姿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全国で戦った選手にも、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「歯を食いしばれ」とは言わなかった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5303520" cy="3474720"/>
          </a:xfrm>
          <a:prstGeom prst="roundRect">
            <a:avLst>
              <a:gd name="adj" fmla="val 1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606040"/>
            <a:ext cx="731520" cy="7315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✕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66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歯を食いしばって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耐える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983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どこからも求められていない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474720"/>
          </a:xfrm>
          <a:prstGeom prst="roundRect">
            <a:avLst>
              <a:gd name="adj" fmla="val 131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6060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○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566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理由をわかって、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自分で考えて走る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4983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強くなった選手に共通していたこと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2. 目指す子どもの姿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目指すのは、苦しさをコントロールし、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伸びを実感して、もっと走りたくなる子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3291840" cy="3566160"/>
          </a:xfrm>
          <a:prstGeom prst="roundRect">
            <a:avLst>
              <a:gd name="adj" fmla="val 13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苦しさを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コントロールする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97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自分でペースを調整できる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86200" y="3840480"/>
            <a:ext cx="457200" cy="45720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2286000"/>
            <a:ext cx="3291840" cy="3566160"/>
          </a:xfrm>
          <a:prstGeom prst="roundRect">
            <a:avLst>
              <a:gd name="adj" fmla="val 13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256032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伸びを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実感する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4297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「前より楽」「前より長く」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がわかる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26680" y="3840480"/>
            <a:ext cx="457200" cy="45720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2286000"/>
            <a:ext cx="3291840" cy="3566160"/>
          </a:xfrm>
          <a:prstGeom prst="roundRect">
            <a:avLst>
              <a:gd name="adj" fmla="val 1389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256032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039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もっと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走りたくなる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4297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次への意欲が生まれる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話し合い①　ペアで3分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マラソン大会で、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子どものどんな姿が見たいですか？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3520440" cy="237744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練習中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どんな顔で走っている？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3520440" cy="237744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大会当日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スタート前・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ゴールの瞬間は？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38160" y="2286000"/>
            <a:ext cx="3520440" cy="237744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大会後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どんな言葉を口にしている？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074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3分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5074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隣の方とペアで話し合い、あとで2〜3組に紹介していただきます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3. 社会の中の「走ること」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大人にとって、走ることは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「きつい運動」ではなく「気軽な運動」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5303520" cy="3566160"/>
          </a:xfrm>
          <a:prstGeom prst="roundRect">
            <a:avLst>
              <a:gd name="adj" fmla="val 1282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560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大人が走る理由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918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健康のため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気分転換・ストレス解消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自分のペースで楽しむ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309360" y="2286000"/>
            <a:ext cx="5303520" cy="3566160"/>
          </a:xfrm>
          <a:prstGeom prst="roundRect">
            <a:avLst>
              <a:gd name="adj" fmla="val 1282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2560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学校の持久走のイメージ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2918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きつい・苦しい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止まってはいけない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順位で比べられる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3. 社会の中の「走ること」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週1回以上運動する大人は、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約半分しかいない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52.5</a:t>
            </a:r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 %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週1日以上 運動・スポーツをする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20歳以上の割合（令和6年度）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実際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26480" y="2788920"/>
            <a:ext cx="5486400" cy="54864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6480" y="2788920"/>
            <a:ext cx="2880360" cy="54864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6364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52.5%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国の目標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26480" y="4069080"/>
            <a:ext cx="5486400" cy="54864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4069080"/>
            <a:ext cx="3840480" cy="54864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70%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小学校で「嫌い」にさせないことは、一生の運動習慣に関わる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出典：スポーツ庁「スポーツの実施状況等に関する世論調査」（令和6年度）、第3期スポーツ基本計画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 「苦しい」の正体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子どもが走れなくなるのは「苦しい」から。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その正体は？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914400" y="2377440"/>
            <a:ext cx="3108960" cy="16459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774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疲れた…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480560" y="2926080"/>
            <a:ext cx="3108960" cy="16459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29260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きつい…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046720" y="2377440"/>
            <a:ext cx="3108960" cy="16459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23774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苦しい…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その正体は？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 「苦しい」の正体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長く動くには酸素がいる。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だから息と心臓が速くなる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3520440" cy="278892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286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〜10秒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すぐ使える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エネルギー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筋肉にためてある分を使う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520440" cy="278892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2286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〜2分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糖を素早く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分解する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4023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短い全力の運動の主役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38160" y="2103120"/>
            <a:ext cx="3520440" cy="2788920"/>
          </a:xfrm>
          <a:prstGeom prst="roundRect">
            <a:avLst>
              <a:gd name="adj" fmla="val 1639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2286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2分〜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酸素を使って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糖・脂肪を燃やす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023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長く動くときの主役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98280" y="4983480"/>
            <a:ext cx="457200" cy="41148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酸素をたくさん取り込もうとする　→　呼吸が速くなる・心拍数が上がる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 「苦しい」の正体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「苦しい」は、脳がかけるブレーキ。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慣れると感じ方が変わる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291840" cy="164592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945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呼吸・心拍数が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上がる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886200" y="2788920"/>
            <a:ext cx="411480" cy="457200"/>
          </a:xfrm>
          <a:prstGeom prst="rightArrow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43400" y="2194560"/>
            <a:ext cx="3291840" cy="164592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43400" y="21945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脳が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「苦しい」と感じる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680960" y="2788920"/>
            <a:ext cx="411480" cy="457200"/>
          </a:xfrm>
          <a:prstGeom prst="rightArrow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38160" y="2194560"/>
            <a:ext cx="3291840" cy="1645920"/>
          </a:xfrm>
          <a:prstGeom prst="roundRect">
            <a:avLst>
              <a:gd name="adj" fmla="val 2778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21945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ブレーキが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かかる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11064240" cy="1554480"/>
          </a:xfrm>
          <a:prstGeom prst="roundRect">
            <a:avLst>
              <a:gd name="adj" fmla="val 2941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389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感じ方は変えられる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438912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同じ心拍数でも、慣れると「まだ大丈夫」と感じる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ゴールまでの見通しがあると、苦しさは軽くなる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※胸の痛み・めまい・顔色の悪さは「本当の危険サイン」（→ 8章）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 「苦しい」の正体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「もう走れない」には2種類ある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303520" cy="3291840"/>
          </a:xfrm>
          <a:prstGeom prst="roundRect">
            <a:avLst>
              <a:gd name="adj" fmla="val 13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エネルギー切れ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862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足が重くなり、動かなくなる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小学生の数分間の持久走では、まず起こらない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309360" y="2194560"/>
            <a:ext cx="5303520" cy="3291840"/>
          </a:xfrm>
          <a:prstGeom prst="roundRect">
            <a:avLst>
              <a:gd name="adj" fmla="val 1389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4688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酸素不足（息切れ）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8862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呼吸・心拍数が上がりすぎて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「苦しくてもうダメ」となる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ペースを落とせば、また走れる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小学生の「もう走れない」は、ほとんどが「ペースが速すぎる」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 「苦しい」の正体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子どもは本来、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大人より疲れにくく、回復も早い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669280" cy="3749040"/>
          </a:xfrm>
          <a:prstGeom prst="roundRect">
            <a:avLst>
              <a:gd name="adj" fmla="val 122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研究でわかっていること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酸素を使う仕組みに頼る割合が高い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大人より疲れにくい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運動後の回復が早い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0" y="2194560"/>
            <a:ext cx="5029200" cy="3749040"/>
          </a:xfrm>
          <a:prstGeom prst="roundRect">
            <a:avLst>
              <a:gd name="adj" fmla="val 122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2560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たとえば休み時間の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3063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鬼ごっこ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41148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20分走り回っても平気。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苦手にしているのは、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走らせ方かもしれない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出典：Birat et al. (2018) Frontiers in Physiology ほか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5. 「持続する力」を高める方法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持続する力を高める方法は、3つある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3520440" cy="3931920"/>
          </a:xfrm>
          <a:prstGeom prst="roundRect">
            <a:avLst>
              <a:gd name="adj" fmla="val 1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心拍数を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上がりにくくする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心臓・肺を鍛える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例：インターバル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2971800" cy="54864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負荷：強い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20440" cy="3931920"/>
          </a:xfrm>
          <a:prstGeom prst="roundRect">
            <a:avLst>
              <a:gd name="adj" fmla="val 1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242316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上がった心拍数に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脳を慣らす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ゆっくり長く動き続ける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例：ジョギング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17720" y="5257800"/>
            <a:ext cx="2971800" cy="54864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17720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負荷：弱い〜中くらい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38160" y="2148840"/>
            <a:ext cx="3520440" cy="3931920"/>
          </a:xfrm>
          <a:prstGeom prst="roundRect">
            <a:avLst>
              <a:gd name="adj" fmla="val 1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苦しさに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耐えて走る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きつい状態で走る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例：タイムトライアル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412480" y="5257800"/>
            <a:ext cx="2971800" cy="54864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0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負荷：強い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話し合い②　近くの方と3分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小学生には、どれを選びますか？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20440" cy="2651760"/>
          </a:xfrm>
          <a:prstGeom prst="roundRect">
            <a:avLst>
              <a:gd name="adj" fmla="val 1724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05940" y="2423160"/>
            <a:ext cx="1005840" cy="10058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0594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心拍数を上がりにくくする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インターバル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520440" cy="2651760"/>
          </a:xfrm>
          <a:prstGeom prst="roundRect">
            <a:avLst>
              <a:gd name="adj" fmla="val 1724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2423160"/>
            <a:ext cx="1005840" cy="10058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0070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上がった心拍数に慣らす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4114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ゆっくり長く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38160" y="2194560"/>
            <a:ext cx="3520440" cy="2651760"/>
          </a:xfrm>
          <a:prstGeom prst="roundRect">
            <a:avLst>
              <a:gd name="adj" fmla="val 1724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95460" y="2423160"/>
            <a:ext cx="1005840" cy="100584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9546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苦しさに耐える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4114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タイムトライアル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516636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166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3分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51663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理由も一緒に。今、自分のクラスの練習はどれに近いですか？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5. 「持続する力」を高める方法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主役は②。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目安は「おしゃべりできる速さ」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6766560" cy="3840480"/>
          </a:xfrm>
          <a:prstGeom prst="roundRect">
            <a:avLst>
              <a:gd name="adj" fmla="val 119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51460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118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おしゃべりできる速さで、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ゆっくり長く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0749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＝ 学習指導要領の「無理のない速さ」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80960" y="2194560"/>
            <a:ext cx="3931920" cy="182880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③は「嫌い」を生みやすい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880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①も負荷が強く、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小学生で積極的に選ぶ必要はない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80960" y="4206240"/>
            <a:ext cx="3931920" cy="18288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子どもの心拍数は別もの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892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大人向けの「220−年齢」の式は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当てはまらない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6. 「走るのが嫌い」になる理由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嫌いになる理由は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「止まれない」と「目的がない」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120640" cy="173736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651760"/>
            <a:ext cx="822960" cy="8229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1945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苦しくても、止まれない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852160" y="2834640"/>
            <a:ext cx="640080" cy="45720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194560"/>
            <a:ext cx="4937760" cy="1737360"/>
          </a:xfrm>
          <a:prstGeom prst="roundRect">
            <a:avLst>
              <a:gd name="adj" fmla="val 2632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21945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きつくなったら、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いつでも止まっていい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4206240"/>
            <a:ext cx="5120640" cy="173736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4663440"/>
            <a:ext cx="822960" cy="8229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42062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走る目的がない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852160" y="4846320"/>
            <a:ext cx="640080" cy="45720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0" y="4206240"/>
            <a:ext cx="4937760" cy="1737360"/>
          </a:xfrm>
          <a:prstGeom prst="roundRect">
            <a:avLst>
              <a:gd name="adj" fmla="val 2632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42062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走る目的を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つくる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7. 大会までに何をするか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原則は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「ゆっくり・短く・選べる・ためる」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2606040" cy="3749040"/>
          </a:xfrm>
          <a:prstGeom prst="roundRect">
            <a:avLst>
              <a:gd name="adj" fmla="val 17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ゆっくり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97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おしゃべりできる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速さで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83280" y="2194560"/>
            <a:ext cx="2606040" cy="3749040"/>
          </a:xfrm>
          <a:prstGeom prst="roundRect">
            <a:avLst>
              <a:gd name="adj" fmla="val 1754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0" y="24688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短く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4297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5分程度から始めて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少しずつ伸ばす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2194560"/>
            <a:ext cx="2606040" cy="3749040"/>
          </a:xfrm>
          <a:prstGeom prst="roundRect">
            <a:avLst>
              <a:gd name="adj" fmla="val 17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24688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選べる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4297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ペース・コース・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歩くかを自分で選ぶ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052560" y="2194560"/>
            <a:ext cx="2606040" cy="3749040"/>
          </a:xfrm>
          <a:prstGeom prst="roundRect">
            <a:avLst>
              <a:gd name="adj" fmla="val 1754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0" y="24688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268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ためる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4297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走った距離や時間を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記録して積み上げる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7. 大会までに何をするか　活動例①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自分の「ちょうどいいペース」を知る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20440" cy="3749040"/>
          </a:xfrm>
          <a:prstGeom prst="roundRect">
            <a:avLst>
              <a:gd name="adj" fmla="val 1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おしゃべり走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2〜3人で、話しながら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走れる速さで。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話せなくなったら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速すぎる合図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520440" cy="3749040"/>
          </a:xfrm>
          <a:prstGeom prst="roundRect">
            <a:avLst>
              <a:gd name="adj" fmla="val 1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4688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154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ペア走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友達と並んで、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同じペースで。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ペースを合わせるのが目標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138160" y="2194560"/>
            <a:ext cx="3520440" cy="3749040"/>
          </a:xfrm>
          <a:prstGeom prst="roundRect">
            <a:avLst>
              <a:gd name="adj" fmla="val 12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24688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154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脈を測る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走る前と後に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15秒数えて4倍。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自分の体の変化がわかる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7. 大会までに何をするか　活動例②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走る目的と、楽しさを足す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5440680" cy="1783080"/>
          </a:xfrm>
          <a:prstGeom prst="roundRect">
            <a:avLst>
              <a:gd name="adj" fmla="val 2564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65176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23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ピタリ賞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3017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予想タイムとの差が小さい人が勝ち。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速くなくても勝てる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5440680" cy="1783080"/>
          </a:xfrm>
          <a:prstGeom prst="roundRect">
            <a:avLst>
              <a:gd name="adj" fmla="val 2564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65176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2423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日本一周マップ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452360" y="3017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走った距離をクラスで合計し、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地図でたどる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5440680" cy="17830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66344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663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変化のあるコース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828800" y="5029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坂道・芝生・校舎の周りなど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2200" y="4160520"/>
            <a:ext cx="5440680" cy="17830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466344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46520" y="4663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452360" y="4434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鬼遊び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5029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鬼ごっこ・しっぽ取りも持続する運動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7. 大会までに何をするか　大会当日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順位をつける部門にも、つけない部門にも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「理由のある目標」を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303520" cy="3840480"/>
          </a:xfrm>
          <a:prstGeom prst="roundRect">
            <a:avLst>
              <a:gd name="adj" fmla="val 119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468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順位をつける部門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自己ベストの更新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ペース配分（後半に上げる）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「自分の走り」を振り返る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2194560"/>
            <a:ext cx="5303520" cy="3840480"/>
          </a:xfrm>
          <a:prstGeom prst="roundRect">
            <a:avLst>
              <a:gd name="adj" fmla="val 119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2468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順位をつけない部門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2004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予想タイムとの差（ピタリ賞）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止まらずに走れた時間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自分で決めたペースを守れたか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話し合い③　グループで5分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順位をつけない部門の子が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「走ってよかった」と思えるには？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3520440" cy="237744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大会までの練習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どんな活動・声かけ？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3520440" cy="237744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大会当日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どんな仕組み・目標？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38160" y="2286000"/>
            <a:ext cx="3520440" cy="237744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大会の後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91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どんな振り返り？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914400" cy="9144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074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5分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50749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3〜4人のグループで。担任以外の先生方も、ご自分の立場からアイデアをお願いします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7. 大会までに何をするか　声かけ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声かけは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「がんばれ」より「いいペースだね」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120640" cy="3749040"/>
          </a:xfrm>
          <a:prstGeom prst="roundRect">
            <a:avLst>
              <a:gd name="adj" fmla="val 122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よく聞く声かけ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06324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「がんばれ！」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「抜かれるな！」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「止まるな！」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806440" y="3840480"/>
            <a:ext cx="548640" cy="45720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2194560"/>
            <a:ext cx="5120640" cy="3749040"/>
          </a:xfrm>
          <a:prstGeom prst="roundRect">
            <a:avLst>
              <a:gd name="adj" fmla="val 122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自分の走りに気づける声かけ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30632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「いいペースだね」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「さっきより楽そうだね」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「自分で決めたペースを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　守れてるよ」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8. 安全管理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学校での心臓突然死は毎年10人前後。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約3分の2は運動に関連して起きている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10</a:t>
            </a:r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 人前後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学校の管理下での心臓突然死（毎年）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1945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約 </a:t>
            </a:r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2/3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931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そのうち運動に関連して起きた割合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47548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本当の危険サイン：胸の痛み・めまい・顔色の悪さ・急に座り込む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394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心臓検診で異常がなかった子にも起こりうる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出典：日本スポーツ振興センター「学校の管理下の災害」、山形県「学校における心臓突然死の防止」資料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8. 安全管理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ゴール前とゴール直後は、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全職員で見守る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2960" y="2743200"/>
            <a:ext cx="10515600" cy="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スタート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49440" y="2331720"/>
            <a:ext cx="2377440" cy="822960"/>
          </a:xfrm>
          <a:prstGeom prst="roundRect">
            <a:avLst>
              <a:gd name="adj" fmla="val 555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2331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ゴール前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スパート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92640" y="23774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G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ゴール直後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大会前に確認すること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AEDの位置（どこからでも数分で届くか）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ゴール付近に様子を見る担当を置く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5720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座り込んだ子には必ず声をかける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心臓検診・管理指導表の確認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緊急時の対応計画の共有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育てたいのは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「理由を持って、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chemeClr val="bg1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また走りたくなる子」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「耐える子」ではなく。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ゆっくり・短く・選べる・ためる　／　声かけは「いいペースだね」　／　安全は全職員で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参考資料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chemeClr val="tx2"/>
                </a:solidFill>
                <a:latin typeface="Noto Sans JP Print Black" pitchFamily="34" charset="0"/>
                <a:ea typeface="Noto Sans JP Print Black" pitchFamily="34" charset="-122"/>
                <a:cs typeface="Noto Sans JP Print Black" pitchFamily="34" charset="-120"/>
              </a:rPr>
              <a:t>参考資料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文部科学省『小学校学習指導要領（平成29年告示）』『同 解説 体育編』『同 解説 特別活動編』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文部科学省『中学校学習指導要領（平成29年告示）』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スポーツ庁『スポーツの実施状況等に関する世論調査』（令和6年度）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日本スポーツ振興センター『学校の管理下の災害』、学校安全Web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山形県教育委員会『学校における心臓突然死の防止』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Birat A. et al. (2018) Metabolic and Fatigue Profiles Are Comparable Between Prepubertal Children and Well-Trained Adult Endurance Athletes. Frontiers in Physiology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JP Print" pitchFamily="34" charset="0"/>
                <a:ea typeface="Noto Sans JP Print" pitchFamily="34" charset="-122"/>
                <a:cs typeface="Noto Sans JP Print" pitchFamily="34" charset="-120"/>
              </a:rPr>
              <a:t>Verschuren O. et al. (2011) The 220-age equation does not predict maximum heart rate in children and adolescents. Dev Med Child Neurol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5817A"/>
                </a:solidFill>
                <a:latin typeface="Noto Sans JP Print Black"/>
                <a:ea typeface="Noto Sans JP Print Black"/>
                <a:cs typeface="Noto Sans JP Print Black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athon Lecture">
  <a:themeElements>
    <a:clrScheme name="Marathon Lecture">
      <a:dk1>
        <a:srgbClr val="1F2A25"/>
      </a:dk1>
      <a:lt1>
        <a:srgbClr val="FFFFFF"/>
      </a:lt1>
      <a:dk2>
        <a:srgbClr val="17332A"/>
      </a:dk2>
      <a:lt2>
        <a:srgbClr val="F0F3F0"/>
      </a:lt2>
      <a:accent1>
        <a:srgbClr val="C9790C"/>
      </a:accent1>
      <a:accent2>
        <a:srgbClr val="3B7A57"/>
      </a:accent2>
      <a:accent3>
        <a:srgbClr val="F2B33D"/>
      </a:accent3>
      <a:accent4>
        <a:srgbClr val="75817A"/>
      </a:accent4>
      <a:accent5>
        <a:srgbClr val="FBF0DE"/>
      </a:accent5>
      <a:accent6>
        <a:srgbClr val="E2EEE6"/>
      </a:accent6>
      <a:hlink>
        <a:srgbClr val="17332A"/>
      </a:hlink>
      <a:folHlink>
        <a:srgbClr val="75817A"/>
      </a:folHlink>
    </a:clrScheme>
    <a:fontScheme name="Marathon Lecture">
      <a:majorFont>
        <a:latin typeface="Noto Sans JP Print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 Prin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走るのが好きが、いちばんの体力づくり</dc:title>
  <dc:subject>PptxGenJS Presentation</dc:subject>
  <dc:creator>PptxGenJS</dc:creator>
  <cp:lastModifiedBy>PptxGenJS</cp:lastModifiedBy>
  <cp:revision>1</cp:revision>
  <dcterms:created xsi:type="dcterms:W3CDTF">2026-10-22T11:57:41Z</dcterms:created>
  <dcterms:modified xsi:type="dcterms:W3CDTF">2026-10-22T11:57:41Z</dcterms:modified>
</cp:coreProperties>
</file>